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00.svg" ContentType="image/svg"/>
  <Override PartName="/ppt/media/image58.svg" ContentType="image/svg"/>
  <Override PartName="/ppt/media/image72.svg" ContentType="image/svg"/>
  <Override PartName="/ppt/media/image42.svg" ContentType="image/svg"/>
  <Override PartName="/ppt/media/image6.svg" ContentType="image/svg"/>
  <Override PartName="/ppt/media/image28.svg" ContentType="image/svg"/>
  <Override PartName="/ppt/media/image130.svg" ContentType="image/svg"/>
  <Override PartName="/ppt/media/image46.svg" ContentType="image/svg"/>
  <Override PartName="/ppt/media/image2.svg" ContentType="image/svg"/>
  <Override PartName="/ppt/media/image74.svg" ContentType="image/svg"/>
  <Override PartName="/ppt/media/image8.svg" ContentType="image/svg"/>
  <Override PartName="/ppt/media/image70.svg" ContentType="image/svg"/>
  <Override PartName="/ppt/media/image110.svg" ContentType="image/svg"/>
  <Override PartName="/ppt/media/image114.svg" ContentType="image/svg"/>
  <Override PartName="/ppt/media/image40.svg" ContentType="image/svg"/>
  <Override PartName="/ppt/media/image4.svg" ContentType="image/svg"/>
  <Override PartName="/ppt/media/image10.svg" ContentType="image/svg"/>
  <Override PartName="/ppt/media/image12.svg" ContentType="image/svg"/>
  <Override PartName="/ppt/media/image14.svg" ContentType="image/svg"/>
  <Override PartName="/ppt/media/image16.svg" ContentType="image/svg"/>
  <Override PartName="/ppt/media/image122.svg" ContentType="image/svg"/>
  <Override PartName="/ppt/media/image18.svg" ContentType="image/svg"/>
  <Override PartName="/ppt/media/image30.svg" ContentType="image/svg"/>
  <Override PartName="/ppt/media/image20.svg" ContentType="image/svg"/>
  <Override PartName="/ppt/media/image22.svg" ContentType="image/svg"/>
  <Override PartName="/ppt/media/image24.svg" ContentType="image/svg"/>
  <Override PartName="/ppt/media/image26.svg" ContentType="image/svg"/>
  <Override PartName="/ppt/media/image32.svg" ContentType="image/svg"/>
  <Override PartName="/ppt/media/image34.svg" ContentType="image/svg"/>
  <Override PartName="/ppt/media/image36.svg" ContentType="image/svg"/>
  <Override PartName="/ppt/media/image38.svg" ContentType="image/svg"/>
  <Override PartName="/ppt/media/image44.svg" ContentType="image/svg"/>
  <Override PartName="/ppt/media/image120.svg" ContentType="image/svg"/>
  <Override PartName="/ppt/media/image48.svg" ContentType="image/svg"/>
  <Override PartName="/ppt/media/image50.svg" ContentType="image/svg"/>
  <Override PartName="/ppt/media/image52.svg" ContentType="image/svg"/>
  <Override PartName="/ppt/media/image54.svg" ContentType="image/svg"/>
  <Override PartName="/ppt/media/image56.svg" ContentType="image/svg"/>
  <Override PartName="/ppt/media/image60.svg" ContentType="image/svg"/>
  <Override PartName="/ppt/media/image62.svg" ContentType="image/svg"/>
  <Override PartName="/ppt/media/image64.svg" ContentType="image/svg"/>
  <Override PartName="/ppt/media/image66.svg" ContentType="image/svg"/>
  <Override PartName="/ppt/media/image68.svg" ContentType="image/svg"/>
  <Override PartName="/ppt/media/image76.svg" ContentType="image/svg"/>
  <Override PartName="/ppt/media/image78.svg" ContentType="image/svg"/>
  <Override PartName="/ppt/media/image80.svg" ContentType="image/svg"/>
  <Override PartName="/ppt/media/image82.svg" ContentType="image/svg"/>
  <Override PartName="/ppt/media/image118.svg" ContentType="image/svg"/>
  <Override PartName="/ppt/media/image84.svg" ContentType="image/svg"/>
  <Override PartName="/ppt/media/image86.svg" ContentType="image/svg"/>
  <Override PartName="/ppt/media/image88.svg" ContentType="image/svg"/>
  <Override PartName="/ppt/media/image90.svg" ContentType="image/svg"/>
  <Override PartName="/ppt/media/image92.svg" ContentType="image/svg"/>
  <Override PartName="/ppt/media/image94.svg" ContentType="image/svg"/>
  <Override PartName="/ppt/media/image96.svg" ContentType="image/svg"/>
  <Override PartName="/ppt/media/image98.svg" ContentType="image/svg"/>
  <Override PartName="/ppt/media/image102.svg" ContentType="image/svg"/>
  <Override PartName="/ppt/media/image104.svg" ContentType="image/svg"/>
  <Override PartName="/ppt/media/image106.svg" ContentType="image/svg"/>
  <Override PartName="/ppt/media/image108.svg" ContentType="image/svg"/>
  <Override PartName="/ppt/media/image112.svg" ContentType="image/svg"/>
  <Override PartName="/ppt/media/image116.svg" ContentType="image/svg"/>
  <Override PartName="/ppt/media/image124.svg" ContentType="image/svg"/>
  <Override PartName="/ppt/media/image126.svg" ContentType="image/svg"/>
  <Override PartName="/ppt/media/image128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B2891D-476A-40F5-B82A-18B580B7DC9F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2C8F19-F5F7-40CB-853E-C10287FCA009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DCA4F2-B364-46E7-BF18-E41A04F339E9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EB7314-C296-4E8F-BF7B-D3CA3CF80498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39777A-87D3-4569-8121-13D8D977D57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D25528-5249-4898-ABAF-BA3C55880F92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B19EAA-5D56-4C80-87AF-26CD38FC5F1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9441A1-D550-4BCF-B02F-CAE943C52750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D03406-7BD8-4C4A-89E3-3483E44511C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9E293F-55FB-4781-B357-5A343309E33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4B37C4-37BD-4D55-A7DB-BA3FB080DE14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AE5003-F9A8-4D59-A170-037228398A5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0D5904-EA60-4993-B19E-866E20BCA7F4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8A4667-9093-45EC-81CC-AFF49FD5331F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F13434-17A1-4E28-B5BF-01566C3272CF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DE77A-8FD2-4963-AACE-D7C1FA671103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0C9F26-5261-471F-B375-A63377AB4AA3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13.png"/><Relationship Id="rId10" Type="http://schemas.openxmlformats.org/officeDocument/2006/relationships/image" Target="../media/image14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sv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21.png"/><Relationship Id="rId8" Type="http://schemas.openxmlformats.org/officeDocument/2006/relationships/image" Target="../media/image22.svg"/><Relationship Id="rId9" Type="http://schemas.openxmlformats.org/officeDocument/2006/relationships/image" Target="../media/image23.png"/><Relationship Id="rId10" Type="http://schemas.openxmlformats.org/officeDocument/2006/relationships/image" Target="../media/image24.svg"/><Relationship Id="rId11" Type="http://schemas.openxmlformats.org/officeDocument/2006/relationships/image" Target="../media/image25.png"/><Relationship Id="rId12" Type="http://schemas.openxmlformats.org/officeDocument/2006/relationships/image" Target="../media/image26.svg"/><Relationship Id="rId13" Type="http://schemas.openxmlformats.org/officeDocument/2006/relationships/image" Target="../media/image27.png"/><Relationship Id="rId14" Type="http://schemas.openxmlformats.org/officeDocument/2006/relationships/image" Target="../media/image28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sv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33.png"/><Relationship Id="rId6" Type="http://schemas.openxmlformats.org/officeDocument/2006/relationships/image" Target="../media/image34.svg"/><Relationship Id="rId7" Type="http://schemas.openxmlformats.org/officeDocument/2006/relationships/image" Target="../media/image35.png"/><Relationship Id="rId8" Type="http://schemas.openxmlformats.org/officeDocument/2006/relationships/image" Target="../media/image36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svg"/><Relationship Id="rId3" Type="http://schemas.openxmlformats.org/officeDocument/2006/relationships/image" Target="../media/image39.png"/><Relationship Id="rId4" Type="http://schemas.openxmlformats.org/officeDocument/2006/relationships/image" Target="../media/image40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sv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55.png"/><Relationship Id="rId14" Type="http://schemas.openxmlformats.org/officeDocument/2006/relationships/image" Target="../media/image56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svg"/><Relationship Id="rId3" Type="http://schemas.openxmlformats.org/officeDocument/2006/relationships/image" Target="../media/image59.png"/><Relationship Id="rId4" Type="http://schemas.openxmlformats.org/officeDocument/2006/relationships/image" Target="../media/image60.svg"/><Relationship Id="rId5" Type="http://schemas.openxmlformats.org/officeDocument/2006/relationships/image" Target="../media/image61.png"/><Relationship Id="rId6" Type="http://schemas.openxmlformats.org/officeDocument/2006/relationships/image" Target="../media/image62.svg"/><Relationship Id="rId7" Type="http://schemas.openxmlformats.org/officeDocument/2006/relationships/image" Target="../media/image63.png"/><Relationship Id="rId8" Type="http://schemas.openxmlformats.org/officeDocument/2006/relationships/image" Target="../media/image64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svg"/><Relationship Id="rId3" Type="http://schemas.openxmlformats.org/officeDocument/2006/relationships/image" Target="../media/image67.png"/><Relationship Id="rId4" Type="http://schemas.openxmlformats.org/officeDocument/2006/relationships/image" Target="../media/image68.svg"/><Relationship Id="rId5" Type="http://schemas.openxmlformats.org/officeDocument/2006/relationships/image" Target="../media/image69.png"/><Relationship Id="rId6" Type="http://schemas.openxmlformats.org/officeDocument/2006/relationships/image" Target="../media/image70.svg"/><Relationship Id="rId7" Type="http://schemas.openxmlformats.org/officeDocument/2006/relationships/image" Target="../media/image71.png"/><Relationship Id="rId8" Type="http://schemas.openxmlformats.org/officeDocument/2006/relationships/image" Target="../media/image72.svg"/><Relationship Id="rId9" Type="http://schemas.openxmlformats.org/officeDocument/2006/relationships/image" Target="../media/image73.png"/><Relationship Id="rId10" Type="http://schemas.openxmlformats.org/officeDocument/2006/relationships/image" Target="../media/image74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76.svg"/><Relationship Id="rId3" Type="http://schemas.openxmlformats.org/officeDocument/2006/relationships/image" Target="../media/image77.png"/><Relationship Id="rId4" Type="http://schemas.openxmlformats.org/officeDocument/2006/relationships/image" Target="../media/image78.svg"/><Relationship Id="rId5" Type="http://schemas.openxmlformats.org/officeDocument/2006/relationships/image" Target="../media/image79.png"/><Relationship Id="rId6" Type="http://schemas.openxmlformats.org/officeDocument/2006/relationships/image" Target="../media/image80.svg"/><Relationship Id="rId7" Type="http://schemas.openxmlformats.org/officeDocument/2006/relationships/image" Target="../media/image81.png"/><Relationship Id="rId8" Type="http://schemas.openxmlformats.org/officeDocument/2006/relationships/image" Target="../media/image82.svg"/><Relationship Id="rId9" Type="http://schemas.openxmlformats.org/officeDocument/2006/relationships/image" Target="../media/image83.png"/><Relationship Id="rId10" Type="http://schemas.openxmlformats.org/officeDocument/2006/relationships/image" Target="../media/image84.svg"/><Relationship Id="rId11" Type="http://schemas.openxmlformats.org/officeDocument/2006/relationships/image" Target="../media/image85.png"/><Relationship Id="rId12" Type="http://schemas.openxmlformats.org/officeDocument/2006/relationships/image" Target="../media/image86.svg"/><Relationship Id="rId13" Type="http://schemas.openxmlformats.org/officeDocument/2006/relationships/image" Target="../media/image87.png"/><Relationship Id="rId14" Type="http://schemas.openxmlformats.org/officeDocument/2006/relationships/image" Target="../media/image88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9.png"/><Relationship Id="rId2" Type="http://schemas.openxmlformats.org/officeDocument/2006/relationships/image" Target="../media/image90.svg"/><Relationship Id="rId3" Type="http://schemas.openxmlformats.org/officeDocument/2006/relationships/image" Target="../media/image91.png"/><Relationship Id="rId4" Type="http://schemas.openxmlformats.org/officeDocument/2006/relationships/image" Target="../media/image92.svg"/><Relationship Id="rId5" Type="http://schemas.openxmlformats.org/officeDocument/2006/relationships/image" Target="../media/image93.png"/><Relationship Id="rId6" Type="http://schemas.openxmlformats.org/officeDocument/2006/relationships/image" Target="../media/image94.svg"/><Relationship Id="rId7" Type="http://schemas.openxmlformats.org/officeDocument/2006/relationships/image" Target="../media/image95.png"/><Relationship Id="rId8" Type="http://schemas.openxmlformats.org/officeDocument/2006/relationships/image" Target="../media/image96.svg"/><Relationship Id="rId9" Type="http://schemas.openxmlformats.org/officeDocument/2006/relationships/image" Target="../media/image97.png"/><Relationship Id="rId10" Type="http://schemas.openxmlformats.org/officeDocument/2006/relationships/image" Target="../media/image98.svg"/><Relationship Id="rId11" Type="http://schemas.openxmlformats.org/officeDocument/2006/relationships/image" Target="../media/image99.png"/><Relationship Id="rId12" Type="http://schemas.openxmlformats.org/officeDocument/2006/relationships/image" Target="../media/image100.svg"/><Relationship Id="rId13" Type="http://schemas.openxmlformats.org/officeDocument/2006/relationships/image" Target="../media/image101.png"/><Relationship Id="rId14" Type="http://schemas.openxmlformats.org/officeDocument/2006/relationships/image" Target="../media/image102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3.png"/><Relationship Id="rId2" Type="http://schemas.openxmlformats.org/officeDocument/2006/relationships/image" Target="../media/image10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5.png"/><Relationship Id="rId2" Type="http://schemas.openxmlformats.org/officeDocument/2006/relationships/image" Target="../media/image106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image" Target="../media/image108.svg"/><Relationship Id="rId3" Type="http://schemas.openxmlformats.org/officeDocument/2006/relationships/image" Target="../media/image109.png"/><Relationship Id="rId4" Type="http://schemas.openxmlformats.org/officeDocument/2006/relationships/image" Target="../media/image110.svg"/><Relationship Id="rId5" Type="http://schemas.openxmlformats.org/officeDocument/2006/relationships/image" Target="../media/image111.png"/><Relationship Id="rId6" Type="http://schemas.openxmlformats.org/officeDocument/2006/relationships/image" Target="../media/image112.svg"/><Relationship Id="rId7" Type="http://schemas.openxmlformats.org/officeDocument/2006/relationships/image" Target="../media/image113.png"/><Relationship Id="rId8" Type="http://schemas.openxmlformats.org/officeDocument/2006/relationships/image" Target="../media/image114.svg"/><Relationship Id="rId9" Type="http://schemas.openxmlformats.org/officeDocument/2006/relationships/image" Target="../media/image115.png"/><Relationship Id="rId10" Type="http://schemas.openxmlformats.org/officeDocument/2006/relationships/image" Target="../media/image116.svg"/><Relationship Id="rId11" Type="http://schemas.openxmlformats.org/officeDocument/2006/relationships/image" Target="../media/image117.png"/><Relationship Id="rId12" Type="http://schemas.openxmlformats.org/officeDocument/2006/relationships/image" Target="../media/image118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9.png"/><Relationship Id="rId2" Type="http://schemas.openxmlformats.org/officeDocument/2006/relationships/image" Target="../media/image120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1.png"/><Relationship Id="rId2" Type="http://schemas.openxmlformats.org/officeDocument/2006/relationships/image" Target="../media/image122.svg"/><Relationship Id="rId3" Type="http://schemas.openxmlformats.org/officeDocument/2006/relationships/image" Target="../media/image123.png"/><Relationship Id="rId4" Type="http://schemas.openxmlformats.org/officeDocument/2006/relationships/image" Target="../media/image124.svg"/><Relationship Id="rId5" Type="http://schemas.openxmlformats.org/officeDocument/2006/relationships/image" Target="../media/image125.png"/><Relationship Id="rId6" Type="http://schemas.openxmlformats.org/officeDocument/2006/relationships/image" Target="../media/image126.svg"/><Relationship Id="rId7" Type="http://schemas.openxmlformats.org/officeDocument/2006/relationships/image" Target="../media/image127.png"/><Relationship Id="rId8" Type="http://schemas.openxmlformats.org/officeDocument/2006/relationships/image" Target="../media/image128.svg"/><Relationship Id="rId9" Type="http://schemas.openxmlformats.org/officeDocument/2006/relationships/image" Target="../media/image129.png"/><Relationship Id="rId10" Type="http://schemas.openxmlformats.org/officeDocument/2006/relationships/image" Target="../media/image13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Shape 1"/>
          <p:cNvSpPr/>
          <p:nvPr/>
        </p:nvSpPr>
        <p:spPr>
          <a:xfrm>
            <a:off x="762120" y="4127400"/>
            <a:ext cx="10667520" cy="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8032680" y="1778040"/>
            <a:ext cx="2984040" cy="2984040"/>
          </a:xfrm>
          <a:prstGeom prst="ellipse">
            <a:avLst/>
          </a:prstGeom>
          <a:noFill/>
          <a:ln w="19050">
            <a:solidFill>
              <a:srgbClr val="F3B544"/>
            </a:solidFill>
            <a:round/>
          </a:ln>
          <a:effectLst>
            <a:outerShdw algn="bl" blurRad="101520" dir="16200000" dist="50760" kx="0" ky="0" rotWithShape="0" sx="100000" sy="100000">
              <a:srgbClr val="10182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120" y="4127400"/>
            <a:ext cx="10667520" cy="1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3"/>
          <p:cNvSpPr/>
          <p:nvPr/>
        </p:nvSpPr>
        <p:spPr>
          <a:xfrm>
            <a:off x="760680" y="984240"/>
            <a:ext cx="70416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pc="99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MANUAL DE MONTAGEM · VERSÃO 1.0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60680" y="1371600"/>
            <a:ext cx="7041600" cy="41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6137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6600" b="1" u="none" spc="-300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Serra Circular</a:t>
            </a:r>
            <a:endParaRPr lang="pt-BR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6137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6600" b="1" u="none" spc="-300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de Bancada</a:t>
            </a:r>
            <a:endParaRPr lang="pt-BR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60680" y="3162240"/>
            <a:ext cx="70416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849"/>
              </a:lnSpc>
              <a:spcBef>
                <a:spcPts val="1701"/>
              </a:spcBef>
              <a:tabLst>
                <a:tab pos="0" algn="l"/>
              </a:tabLst>
            </a:pPr>
            <a:r>
              <a:rPr lang="pt-BR" sz="1900" b="0" u="none" strike="noStrike">
                <a:solidFill>
                  <a:srgbClr val="B7C2C1"/>
                </a:solidFill>
                <a:effectLst/>
                <a:uFillTx/>
                <a:latin typeface="Space Grotesk"/>
                <a:ea typeface="Space Grotesk"/>
              </a:rPr>
              <a:t>a partir de Máquina de Lavar Consul 9 kg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62120" y="5245200"/>
            <a:ext cx="60447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Reaproveitamento eletromecânico do motor e carcaça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— corte de lenha para lareira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62120" y="5918040"/>
            <a:ext cx="60447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pt-BR" sz="1000" b="0" u="none" spc="99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e-Sid Solutions M.E. · 21/09/2026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EE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 rot="21300000">
            <a:off x="8222760" y="1841400"/>
            <a:ext cx="2793600" cy="3555720"/>
          </a:xfrm>
          <a:prstGeom prst="rect">
            <a:avLst/>
          </a:prstGeom>
          <a:noFill/>
          <a:ln w="31749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8667360" y="2444760"/>
            <a:ext cx="1841040" cy="1841040"/>
          </a:xfrm>
          <a:prstGeom prst="ellipse">
            <a:avLst/>
          </a:prstGeom>
          <a:noFill/>
          <a:ln w="31749">
            <a:solidFill>
              <a:srgbClr val="36545B"/>
            </a:solidFill>
            <a:round/>
          </a:ln>
          <a:effectLst>
            <a:outerShdw algn="bl" blurRad="101520" dir="16200000" dist="50760" kx="0" ky="0" rotWithShape="0" sx="100000" sy="100000">
              <a:srgbClr val="D4D7D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 rot="2700000">
            <a:off x="9239040" y="4571640"/>
            <a:ext cx="729720" cy="729720"/>
          </a:xfrm>
          <a:prstGeom prst="rect">
            <a:avLst/>
          </a:prstGeom>
          <a:solidFill>
            <a:srgbClr val="F3B5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8446320" y="5003640"/>
            <a:ext cx="9457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36545B"/>
                </a:solidFill>
                <a:effectLst/>
                <a:uFillTx/>
                <a:latin typeface="DM Mono"/>
                <a:ea typeface="DM Mono"/>
              </a:rPr>
              <a:t>carcaça reutilizada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36545B"/>
                </a:solidFill>
                <a:effectLst/>
                <a:uFillTx/>
                <a:latin typeface="DM Mono"/>
                <a:ea typeface="DM Mono"/>
              </a:rPr>
              <a:t>como proteção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698400" y="835200"/>
            <a:ext cx="1519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1027440" y="571680"/>
            <a:ext cx="5130360" cy="17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pt-BR" sz="3600" b="1" u="none" spc="-150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Contexto e objetivo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762120" y="1650960"/>
            <a:ext cx="5714640" cy="12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pt-BR" sz="2100" b="0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Uma máquina com o mecanismo de agitação quebrado, mas com motor e carcaça em perfeito estado.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762120" y="3448080"/>
            <a:ext cx="6158880" cy="12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760320" y="3664080"/>
            <a:ext cx="287604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24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BASE</a:t>
            </a:r>
            <a:r>
              <a:rPr lang="pt-BR" sz="12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Consul 9 kg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24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CWM09AB / CWB09BB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4046400" y="3664080"/>
            <a:ext cx="287604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24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OBJETIVO</a:t>
            </a:r>
            <a:r>
              <a:rPr lang="pt-BR" sz="12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Serra circular de bancada fixa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24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para cortar lenha no inverno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760320" y="4292640"/>
            <a:ext cx="287604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24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CRITÉRIOS</a:t>
            </a:r>
            <a:r>
              <a:rPr lang="pt-BR" sz="12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Robustez · segurança · uso frequente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4046400" y="4292640"/>
            <a:ext cx="287604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24"/>
              </a:lnSpc>
              <a:tabLst>
                <a:tab pos="0" algn="l"/>
              </a:tabLst>
            </a:pPr>
            <a:r>
              <a:rPr lang="pt-BR" sz="90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RESTRIÇÃO</a:t>
            </a:r>
            <a:r>
              <a:rPr lang="pt-BR" sz="12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Ferramentas manuais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24"/>
              </a:lnSpc>
              <a:tabLst>
                <a:tab pos="0" algn="l"/>
              </a:tabLst>
            </a:pPr>
            <a:r>
              <a:rPr lang="pt-BR" sz="12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e componentes comprados prontos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2120" y="3448080"/>
            <a:ext cx="615888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0320" y="3664080"/>
            <a:ext cx="287604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046400" y="3664080"/>
            <a:ext cx="287604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0320" y="4292640"/>
            <a:ext cx="2876040" cy="45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046400" y="4292640"/>
            <a:ext cx="2876040" cy="45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397480" y="5486400"/>
            <a:ext cx="6793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251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O capacitor pertence ao motor — não à placa de comando.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6032520" y="2349360"/>
            <a:ext cx="2730240" cy="1523520"/>
          </a:xfrm>
          <a:prstGeom prst="roundRect">
            <a:avLst>
              <a:gd name="adj" fmla="val 8333"/>
            </a:avLst>
          </a:prstGeom>
          <a:solidFill>
            <a:srgbClr val="24323A"/>
          </a:solidFill>
          <a:ln w="25399">
            <a:solidFill>
              <a:srgbClr val="F1E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6222960" y="2508120"/>
            <a:ext cx="1206000" cy="1206000"/>
          </a:xfrm>
          <a:prstGeom prst="ellipse">
            <a:avLst/>
          </a:prstGeom>
          <a:noFill/>
          <a:ln w="76198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7365960" y="2508120"/>
            <a:ext cx="1206000" cy="1206000"/>
          </a:xfrm>
          <a:prstGeom prst="ellipse">
            <a:avLst/>
          </a:prstGeom>
          <a:noFill/>
          <a:ln w="76198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8667360" y="3111480"/>
            <a:ext cx="1491840" cy="6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8360" rIns="90000" bIns="1836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9969120" y="2793960"/>
            <a:ext cx="634680" cy="634680"/>
          </a:xfrm>
          <a:prstGeom prst="ellipse">
            <a:avLst/>
          </a:prstGeom>
          <a:noFill/>
          <a:ln w="76198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7"/>
          <p:cNvSpPr/>
          <p:nvPr/>
        </p:nvSpPr>
        <p:spPr>
          <a:xfrm>
            <a:off x="10413720" y="2032200"/>
            <a:ext cx="380520" cy="761760"/>
          </a:xfrm>
          <a:prstGeom prst="rect">
            <a:avLst/>
          </a:prstGeom>
          <a:noFill/>
          <a:ln w="25399">
            <a:solidFill>
              <a:srgbClr val="54B7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5906880" y="1873440"/>
            <a:ext cx="10029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enrolamento principal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7494120" y="1873440"/>
            <a:ext cx="9457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enrolamento auxiliar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9429840" y="3746520"/>
            <a:ext cx="5457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eixo + polia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10439280" y="2921040"/>
            <a:ext cx="418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capacitor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8699400" y="2127240"/>
            <a:ext cx="425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terminais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397480" y="5486400"/>
            <a:ext cx="679392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67360" y="3111480"/>
            <a:ext cx="1491840" cy="6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13"/>
          <p:cNvSpPr/>
          <p:nvPr/>
        </p:nvSpPr>
        <p:spPr>
          <a:xfrm>
            <a:off x="699840" y="571680"/>
            <a:ext cx="67896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02 / MOTOR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697320" y="857160"/>
            <a:ext cx="860364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1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3400" b="1" u="none" spc="-150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O conjunto que será reaproveitado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762120" y="1968480"/>
            <a:ext cx="3619080" cy="20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762120" y="1974960"/>
            <a:ext cx="36190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7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PSC monofásico</a:t>
            </a:r>
            <a:r>
              <a:rPr lang="pt-BR" sz="12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 · 220 V · 2,0 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762120" y="2489400"/>
            <a:ext cx="36190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7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1/4 CV</a:t>
            </a:r>
            <a:r>
              <a:rPr lang="pt-BR" sz="12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 · 186,5 W · 1.600–1.625 RPM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762120" y="3003480"/>
            <a:ext cx="36190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7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Capacitor</a:t>
            </a:r>
            <a:r>
              <a:rPr lang="pt-BR" sz="12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 12 µF / 250 VAC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762120" y="3517920"/>
            <a:ext cx="36190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7"/>
              </a:lnSpc>
              <a:tabLst>
                <a:tab pos="0" algn="l"/>
              </a:tabLst>
            </a:pPr>
            <a:r>
              <a:rPr lang="pt-BR" sz="125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Classe F</a:t>
            </a:r>
            <a:r>
              <a:rPr lang="pt-BR" sz="12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 · 155 °C · regime intermitente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62120" y="1968480"/>
            <a:ext cx="3619080" cy="206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2120" y="1974960"/>
            <a:ext cx="3619080" cy="55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62120" y="2489400"/>
            <a:ext cx="3619080" cy="55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62120" y="3003480"/>
            <a:ext cx="3619080" cy="55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762120" y="3517920"/>
            <a:ext cx="3619080" cy="55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EE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762120" y="666720"/>
            <a:ext cx="42541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03 / DECISÃO DE PROJETO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762120" y="1035000"/>
            <a:ext cx="4254120" cy="52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983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4150" b="1" u="none" spc="-201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APROVADO</a:t>
            </a:r>
            <a:endParaRPr lang="pt-BR" sz="4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83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4150" b="1" u="none" spc="-201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COM RESTRIÇÕES</a:t>
            </a:r>
            <a:endParaRPr lang="pt-BR" sz="4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83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4150" b="1" u="none" spc="-201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SEVERAS</a:t>
            </a:r>
            <a:endParaRPr lang="pt-BR" sz="4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762120" y="3295800"/>
            <a:ext cx="355572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24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1300" b="0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A arquitetura funciona somente com transmissão, proteção e comando corretos.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5524200" y="793800"/>
            <a:ext cx="5079600" cy="13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5701320" y="978120"/>
            <a:ext cx="68544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REPROVADO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5702040" y="1181160"/>
            <a:ext cx="490176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spcBef>
                <a:spcPts val="451"/>
              </a:spcBef>
              <a:tabLst>
                <a:tab pos="0" algn="l"/>
              </a:tabLst>
            </a:pPr>
            <a:r>
              <a:rPr lang="pt-BR" sz="19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Disco direto no eixo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5702040" y="1606680"/>
            <a:ext cx="4901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94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21 m/s insuficiente.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94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Seria necessário disco de 478 mm.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5524200" y="2178000"/>
            <a:ext cx="5079600" cy="13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5702040" y="2362320"/>
            <a:ext cx="5457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INVIÁVEL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5702040" y="2565360"/>
            <a:ext cx="490176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spcBef>
                <a:spcPts val="451"/>
              </a:spcBef>
              <a:tabLst>
                <a:tab pos="0" algn="l"/>
              </a:tabLst>
            </a:pPr>
            <a:r>
              <a:rPr lang="pt-BR" sz="19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Sem capacitor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5702040" y="2990880"/>
            <a:ext cx="4901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94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Motor PSC não parte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94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sem capacitor.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2"/>
          <p:cNvSpPr/>
          <p:nvPr/>
        </p:nvSpPr>
        <p:spPr>
          <a:xfrm>
            <a:off x="5524200" y="3562200"/>
            <a:ext cx="5079600" cy="13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5701320" y="3746520"/>
            <a:ext cx="6220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238B72"/>
                </a:solidFill>
                <a:effectLst/>
                <a:uFillTx/>
                <a:latin typeface="DM Mono"/>
                <a:ea typeface="DM Mono"/>
              </a:rPr>
              <a:t>APROVADO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5702040" y="3949560"/>
            <a:ext cx="490176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849"/>
              </a:lnSpc>
              <a:spcBef>
                <a:spcPts val="451"/>
              </a:spcBef>
              <a:tabLst>
                <a:tab pos="0" algn="l"/>
              </a:tabLst>
            </a:pPr>
            <a:r>
              <a:rPr lang="pt-BR" sz="19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Placa eliminada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5702040" y="4375080"/>
            <a:ext cx="4901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94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Ligação direta do motor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94"/>
              </a:lnSpc>
              <a:spcBef>
                <a:spcPts val="400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à rede, com proteções.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762120" y="5187960"/>
            <a:ext cx="10667520" cy="9392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CAPACITOR ≠ PLACA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B7C2C1"/>
                </a:solidFill>
                <a:effectLst/>
                <a:uFillTx/>
                <a:latin typeface="Space Grotesk"/>
                <a:ea typeface="Space Grotesk"/>
              </a:rPr>
              <a:t>O capacitor é parte funcional do motor PSC.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524200" y="793800"/>
            <a:ext cx="5079600" cy="138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524200" y="2178000"/>
            <a:ext cx="5079600" cy="138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524200" y="3562200"/>
            <a:ext cx="5079600" cy="138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2120" y="5187960"/>
            <a:ext cx="10667520" cy="93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762120" y="5143320"/>
            <a:ext cx="106675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251"/>
              </a:lnSpc>
              <a:tabLst>
                <a:tab pos="0" algn="l"/>
              </a:tabLst>
            </a:pPr>
            <a:r>
              <a:rPr lang="pt-BR" sz="1500" b="0" u="none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Consequência: avanço lento · lenha fina e seca · ciclos com pausa · lâmina sempre afiada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8534880" y="5873760"/>
            <a:ext cx="264132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ts val="1426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≈ 10% da potência de uma serra comercial de 1.800 W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1426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≈ 13% do torque comercial de 3,58 N·m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7238880" y="2095560"/>
            <a:ext cx="1174320" cy="952200"/>
          </a:xfrm>
          <a:prstGeom prst="rect">
            <a:avLst/>
          </a:prstGeom>
          <a:noFill/>
          <a:ln w="19050">
            <a:solidFill>
              <a:srgbClr val="54B7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7552440" y="2268720"/>
            <a:ext cx="5472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MOTOR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7642080" y="2747880"/>
            <a:ext cx="36792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186,5 W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6"/>
          <p:cNvSpPr/>
          <p:nvPr/>
        </p:nvSpPr>
        <p:spPr>
          <a:xfrm>
            <a:off x="8731080" y="2546280"/>
            <a:ext cx="761760" cy="5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9810360" y="2095560"/>
            <a:ext cx="1174320" cy="952200"/>
          </a:xfrm>
          <a:prstGeom prst="rect">
            <a:avLst/>
          </a:prstGeom>
          <a:solidFill>
            <a:srgbClr val="F3B544"/>
          </a:solidFill>
          <a:ln w="19050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10169280" y="2268720"/>
            <a:ext cx="45684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101820"/>
                </a:solidFill>
                <a:effectLst/>
                <a:highlight>
                  <a:srgbClr val="F3B544"/>
                </a:highlight>
                <a:uFillTx/>
                <a:latin typeface="DM Mono"/>
                <a:ea typeface="DM Mono"/>
              </a:rPr>
              <a:t>DISCO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10137600" y="2747880"/>
            <a:ext cx="5202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8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177 W úteis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2120" y="5143320"/>
            <a:ext cx="10667520" cy="50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731080" y="2546280"/>
            <a:ext cx="761760" cy="5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0"/>
          <p:cNvSpPr/>
          <p:nvPr/>
        </p:nvSpPr>
        <p:spPr>
          <a:xfrm>
            <a:off x="731160" y="571680"/>
            <a:ext cx="1402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04 / DIMENSIONAMENTO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730080" y="851040"/>
            <a:ext cx="6857640" cy="20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149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3000" b="1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A transmissão multiplica velocidade — e divide torque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761760" y="2095560"/>
            <a:ext cx="138384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5601"/>
              </a:lnSpc>
              <a:tabLst>
                <a:tab pos="0" algn="l"/>
              </a:tabLst>
            </a:pPr>
            <a:r>
              <a:rPr lang="pt-BR" sz="5600" b="1" u="none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1,10</a:t>
            </a:r>
            <a:r>
              <a:rPr lang="pt-BR" sz="11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N·m · motor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2433240" y="2432160"/>
            <a:ext cx="4503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÷ 2,25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3170880" y="2095560"/>
            <a:ext cx="138384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5601"/>
              </a:lnSpc>
              <a:tabLst>
                <a:tab pos="0" algn="l"/>
              </a:tabLst>
            </a:pPr>
            <a:r>
              <a:rPr lang="pt-BR" sz="5600" b="1" u="none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0,47</a:t>
            </a:r>
            <a:r>
              <a:rPr lang="pt-BR" sz="11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N·m · ponta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EE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6095880" y="2095560"/>
            <a:ext cx="2666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6858000" y="2603520"/>
            <a:ext cx="1142640" cy="698040"/>
          </a:xfrm>
          <a:prstGeom prst="rect">
            <a:avLst/>
          </a:prstGeom>
          <a:solidFill>
            <a:srgbClr val="F3B544"/>
          </a:solidFill>
          <a:ln w="25399">
            <a:solidFill>
              <a:srgbClr val="1018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095880" y="2095560"/>
            <a:ext cx="266652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3"/>
          <p:cNvSpPr/>
          <p:nvPr/>
        </p:nvSpPr>
        <p:spPr>
          <a:xfrm>
            <a:off x="730800" y="571680"/>
            <a:ext cx="4503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ETAPA 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29000" y="838440"/>
            <a:ext cx="5028840" cy="21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300"/>
              </a:lnSpc>
              <a:spcBef>
                <a:spcPts val="901"/>
              </a:spcBef>
              <a:tabLst>
                <a:tab pos="0" algn="l"/>
              </a:tabLst>
            </a:pPr>
            <a:r>
              <a:rPr lang="pt-BR" sz="33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A carcaça protege.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300"/>
              </a:lnSpc>
              <a:spcBef>
                <a:spcPts val="901"/>
              </a:spcBef>
              <a:tabLst>
                <a:tab pos="0" algn="l"/>
              </a:tabLst>
            </a:pPr>
            <a:r>
              <a:rPr lang="pt-BR" sz="33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A madeira sustenta.</a:t>
            </a:r>
            <a:endParaRPr lang="pt-BR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5715000" y="1555920"/>
            <a:ext cx="3428640" cy="514080"/>
          </a:xfrm>
          <a:prstGeom prst="rect">
            <a:avLst/>
          </a:prstGeom>
          <a:solidFill>
            <a:srgbClr val="3654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800 × 600 mm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7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compensado naval 25 mm</a:t>
            </a:r>
            <a:endParaRPr lang="pt-B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8826120" y="2317680"/>
            <a:ext cx="1206000" cy="1942560"/>
          </a:xfrm>
          <a:prstGeom prst="rect">
            <a:avLst/>
          </a:prstGeom>
          <a:noFill/>
          <a:ln w="25399">
            <a:solidFill>
              <a:srgbClr val="C17C19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carcaça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75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revestimento + coleta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762840" y="6083280"/>
            <a:ext cx="300312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A chapa fina da lavadora NÃO é estrutura portante.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761040" y="3365640"/>
            <a:ext cx="2012400" cy="14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6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4 pés 60 × 60 mm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6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Travessas 40 × 60 mm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6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Contraventamento diagonal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6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M8 × 80 · torque 20–25 N·m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6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Altura final: 90 cm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6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Inserto zero-clearance de MDF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951480" y="5803920"/>
            <a:ext cx="30538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Se a polia do motor medir ≥ 80 mm, dispensa polia nova: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≥ 3.224 RPM → ≥ 42 m/s.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206360" y="2222640"/>
            <a:ext cx="1333080" cy="1333080"/>
          </a:xfrm>
          <a:prstGeom prst="ellipse">
            <a:avLst/>
          </a:prstGeom>
          <a:noFill/>
          <a:ln w="25399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90 mm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1714320" y="2444760"/>
            <a:ext cx="2031480" cy="888480"/>
          </a:xfrm>
          <a:prstGeom prst="ellipse">
            <a:avLst/>
          </a:prstGeom>
          <a:noFill/>
          <a:ln w="44449">
            <a:solidFill>
              <a:srgbClr val="5270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3809880" y="2571840"/>
            <a:ext cx="603000" cy="603000"/>
          </a:xfrm>
          <a:prstGeom prst="ellipse">
            <a:avLst/>
          </a:prstGeom>
          <a:noFill/>
          <a:ln w="25399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40 mm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4127400" y="3301920"/>
            <a:ext cx="16506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Ø20 mm · aço 1045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5968800" y="2254320"/>
            <a:ext cx="1460160" cy="1460160"/>
          </a:xfrm>
          <a:prstGeom prst="ellipse">
            <a:avLst/>
          </a:prstGeom>
          <a:noFill/>
          <a:ln w="25399">
            <a:solidFill>
              <a:srgbClr val="54B7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250 mm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51480" y="5803920"/>
            <a:ext cx="305388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127400" y="3301920"/>
            <a:ext cx="165060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7"/>
          <p:cNvSpPr/>
          <p:nvPr/>
        </p:nvSpPr>
        <p:spPr>
          <a:xfrm>
            <a:off x="699840" y="501840"/>
            <a:ext cx="20505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ETAPA 3 · CENÁRIO B RECOMENDADO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99840" y="762120"/>
            <a:ext cx="9562680" cy="16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4876"/>
              </a:lnSpc>
              <a:spcBef>
                <a:spcPts val="901"/>
              </a:spcBef>
              <a:tabLst>
                <a:tab pos="0" algn="l"/>
              </a:tabLst>
            </a:pPr>
            <a:r>
              <a:rPr lang="pt-BR" sz="3250" b="1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Velocidade chega ao disco por correia</a:t>
            </a:r>
            <a:endParaRPr lang="pt-BR" sz="3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8000640" y="1650960"/>
            <a:ext cx="3301560" cy="25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8000640" y="1657440"/>
            <a:ext cx="33015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pt-BR" sz="155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3.627 RPM</a:t>
            </a:r>
            <a:r>
              <a:rPr lang="pt-BR" sz="11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 no disco · 47,5 m/s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8000640" y="2209680"/>
            <a:ext cx="33015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Correia V seção A-32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≈ 813 mm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8000640" y="2870280"/>
            <a:ext cx="33015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2 rolamentos 6204-2RS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+ mancais prontos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8000640" y="3530520"/>
            <a:ext cx="330156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Flanges ≥ 62,5 mm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85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M12 classe 8.8 · 70–90 N·m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000640" y="1650960"/>
            <a:ext cx="3301560" cy="253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00640" y="1657440"/>
            <a:ext cx="3301560" cy="59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000640" y="2209680"/>
            <a:ext cx="3301560" cy="7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8000640" y="2870280"/>
            <a:ext cx="3301560" cy="7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000640" y="3530520"/>
            <a:ext cx="3301560" cy="704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EE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"/>
          <p:cNvSpPr/>
          <p:nvPr/>
        </p:nvSpPr>
        <p:spPr>
          <a:xfrm>
            <a:off x="1143000" y="1778040"/>
            <a:ext cx="3555720" cy="3555720"/>
          </a:xfrm>
          <a:prstGeom prst="ellipse">
            <a:avLst/>
          </a:prstGeom>
          <a:noFill/>
          <a:ln w="31749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2666880" y="3301920"/>
            <a:ext cx="507600" cy="507600"/>
          </a:xfrm>
          <a:prstGeom prst="ellipse">
            <a:avLst/>
          </a:prstGeom>
          <a:solidFill>
            <a:srgbClr val="F1EEE7"/>
          </a:solidFill>
          <a:ln w="31749">
            <a:solidFill>
              <a:srgbClr val="1018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730800" y="571680"/>
            <a:ext cx="4503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ETAPA 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730440" y="838440"/>
            <a:ext cx="968328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100"/>
              </a:lnSpc>
              <a:spcBef>
                <a:spcPts val="901"/>
              </a:spcBef>
              <a:tabLst>
                <a:tab pos="0" algn="l"/>
              </a:tabLst>
            </a:pPr>
            <a:r>
              <a:rPr lang="pt-BR" sz="34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Disco: escolha para o material certo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2062800" y="5587920"/>
            <a:ext cx="6537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Ø 250 mm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10″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3429000" y="3270240"/>
            <a:ext cx="850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furo 30 mm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bucha 30→20 mm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7048440" y="1810800"/>
            <a:ext cx="4127040" cy="41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7048440" y="1828800"/>
            <a:ext cx="4127040" cy="13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3645"/>
              </a:lnSpc>
              <a:tabLst>
                <a:tab pos="0" algn="l"/>
              </a:tabLst>
            </a:pPr>
            <a:r>
              <a:rPr lang="pt-BR" sz="27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24 dentes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45"/>
              </a:lnSpc>
              <a:tabLst>
                <a:tab pos="0" algn="l"/>
              </a:tabLst>
            </a:pPr>
            <a:r>
              <a:rPr lang="pt-BR" sz="27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metal duro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7048440" y="3117960"/>
            <a:ext cx="412704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55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RPM máxima ≥ 6.000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55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operação ≈ 3.600 RPM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7048440" y="3924360"/>
            <a:ext cx="412704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55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Profundidade de corte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55"/>
              </a:lnSpc>
              <a:tabLst>
                <a:tab pos="0" algn="l"/>
              </a:tabLst>
            </a:pPr>
            <a:r>
              <a:rPr lang="pt-BR" sz="13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70–80 mm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7048440" y="4953960"/>
            <a:ext cx="4127040" cy="99648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956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24T para lenha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6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40–60T para compensado fino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56"/>
              </a:lnSpc>
              <a:tabLst>
                <a:tab pos="0" algn="l"/>
              </a:tabLst>
            </a:pPr>
            <a:r>
              <a:rPr lang="pt-BR" sz="115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NUNCA 60+T em lenha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048440" y="1810800"/>
            <a:ext cx="4127040" cy="41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048440" y="1828800"/>
            <a:ext cx="4127040" cy="132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048440" y="3117960"/>
            <a:ext cx="4127040" cy="85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048440" y="3924360"/>
            <a:ext cx="4127040" cy="850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"/>
          <p:cNvSpPr/>
          <p:nvPr/>
        </p:nvSpPr>
        <p:spPr>
          <a:xfrm rot="21300000">
            <a:off x="888840" y="2031840"/>
            <a:ext cx="5841360" cy="3428640"/>
          </a:xfrm>
          <a:prstGeom prst="rect">
            <a:avLst/>
          </a:prstGeom>
          <a:noFill/>
          <a:ln w="19050">
            <a:solidFill>
              <a:srgbClr val="5270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3524040" y="1936800"/>
            <a:ext cx="18720" cy="35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3174840" y="3143160"/>
            <a:ext cx="698040" cy="698040"/>
          </a:xfrm>
          <a:prstGeom prst="ellipse">
            <a:avLst/>
          </a:prstGeom>
          <a:noFill/>
          <a:ln w="25399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 rot="21300000">
            <a:off x="1491840" y="2603520"/>
            <a:ext cx="4444560" cy="342360"/>
          </a:xfrm>
          <a:prstGeom prst="rect">
            <a:avLst/>
          </a:prstGeom>
          <a:noFill/>
          <a:ln w="25399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guia paralela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50 × 90 mm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 rot="21300000">
            <a:off x="2031840" y="4572000"/>
            <a:ext cx="3174480" cy="304560"/>
          </a:xfrm>
          <a:prstGeom prst="rect">
            <a:avLst/>
          </a:prstGeom>
          <a:noFill/>
          <a:ln w="19050">
            <a:solidFill>
              <a:srgbClr val="54B7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esquadro transversal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250 × 75 mm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6260040" y="3587760"/>
            <a:ext cx="659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→ AVANÇO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524040" y="1936800"/>
            <a:ext cx="18720" cy="355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7"/>
          <p:cNvSpPr/>
          <p:nvPr/>
        </p:nvSpPr>
        <p:spPr>
          <a:xfrm>
            <a:off x="730800" y="540000"/>
            <a:ext cx="4503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ETAPA 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730800" y="806400"/>
            <a:ext cx="844488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026"/>
              </a:lnSpc>
              <a:spcBef>
                <a:spcPts val="901"/>
              </a:spcBef>
              <a:tabLst>
                <a:tab pos="0" algn="l"/>
              </a:tabLst>
            </a:pPr>
            <a:r>
              <a:rPr lang="pt-BR" sz="3350" b="1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Guiar a peça é controlar o corte</a:t>
            </a:r>
            <a:endParaRPr lang="pt-BR" sz="3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8000640" y="2032200"/>
            <a:ext cx="3238200" cy="26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8191440" y="2032200"/>
            <a:ext cx="304740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835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0,5 mm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diferença máxima de paralelismo entre frente e trás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8191440" y="3098880"/>
            <a:ext cx="30474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Alívio na saída.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pt-BR" sz="1200" b="1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Nunca convergência traseira.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8191440" y="3809880"/>
            <a:ext cx="3047400" cy="9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Inserto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  <a:tabLst>
                <a:tab pos="0" algn="l"/>
              </a:tabLst>
            </a:pPr>
            <a:r>
              <a:rPr lang="pt-BR" sz="210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zero-clearance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000640" y="2032200"/>
            <a:ext cx="3238200" cy="264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191440" y="2032200"/>
            <a:ext cx="3047400" cy="111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191440" y="3098880"/>
            <a:ext cx="3047400" cy="74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191440" y="3809880"/>
            <a:ext cx="3047400" cy="90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EE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888840" y="3460680"/>
            <a:ext cx="48891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2921040" y="2476440"/>
            <a:ext cx="1396440" cy="1396440"/>
          </a:xfrm>
          <a:prstGeom prst="ellipse">
            <a:avLst/>
          </a:prstGeom>
          <a:noFill/>
          <a:ln w="31749">
            <a:solidFill>
              <a:srgbClr val="D95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88840" y="3460680"/>
            <a:ext cx="4889160" cy="11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3"/>
          <p:cNvSpPr/>
          <p:nvPr/>
        </p:nvSpPr>
        <p:spPr>
          <a:xfrm>
            <a:off x="698400" y="514440"/>
            <a:ext cx="14094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ETAPA 6 · NÃO OPCIONAIS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699120" y="768240"/>
            <a:ext cx="7657560" cy="15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4799"/>
              </a:lnSpc>
              <a:spcBef>
                <a:spcPts val="850"/>
              </a:spcBef>
              <a:tabLst>
                <a:tab pos="0" algn="l"/>
              </a:tabLst>
            </a:pPr>
            <a:r>
              <a:rPr lang="pt-BR" sz="32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A proteção vem antes do corte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2603520" y="2095560"/>
            <a:ext cx="2031480" cy="672840"/>
          </a:xfrm>
          <a:prstGeom prst="roundRect">
            <a:avLst>
              <a:gd name="adj" fmla="val 50000"/>
            </a:avLst>
          </a:prstGeom>
          <a:noFill/>
          <a:ln w="25399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coifa articulada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4287600" y="2571840"/>
            <a:ext cx="844200" cy="14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faca separadora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5384520" y="3206880"/>
            <a:ext cx="488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garras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anti-recuo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 rot="20280000">
            <a:off x="1746000" y="4032360"/>
            <a:ext cx="133308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empurrador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6921360" y="1778040"/>
            <a:ext cx="4571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86"/>
              </a:lnSpc>
              <a:tabLst>
                <a:tab pos="0" algn="l"/>
              </a:tabLst>
            </a:pPr>
            <a:r>
              <a:rPr lang="pt-BR" sz="105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Coifa:</a:t>
            </a: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chapa 1,5 mm ou policarbonato 4 mm; borda ≤ 10 mm acima da peça.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6921360" y="2178000"/>
            <a:ext cx="4571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86"/>
              </a:lnSpc>
              <a:tabLst>
                <a:tab pos="0" algn="l"/>
              </a:tabLst>
            </a:pPr>
            <a:r>
              <a:rPr lang="pt-BR" sz="105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Faca:</a:t>
            </a: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2,0–2,5 mm; folga 3–8 mm dos dentes. Nunca operar sem ela.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6921360" y="2577960"/>
            <a:ext cx="457164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86"/>
              </a:lnSpc>
              <a:tabLst>
                <a:tab pos="0" algn="l"/>
              </a:tabLst>
            </a:pPr>
            <a:r>
              <a:rPr lang="pt-BR" sz="105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Operador:</a:t>
            </a: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mãos fora de 200 mm; óculos, auricular, PFF2, calçado fechado. </a:t>
            </a:r>
            <a:r>
              <a:rPr lang="pt-BR" sz="1050" b="1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Proibido luvas.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6921360" y="3149640"/>
            <a:ext cx="457164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86"/>
              </a:lnSpc>
              <a:tabLst>
                <a:tab pos="0" algn="l"/>
              </a:tabLst>
            </a:pPr>
            <a:r>
              <a:rPr lang="pt-BR" sz="1050" b="1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Desligamento:</a:t>
            </a: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 disco ainda gira 10–25 s. Intervir só parado. Toras cilíndricas: berço em V.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9765360" y="5638680"/>
            <a:ext cx="1726920" cy="647280"/>
          </a:xfrm>
          <a:prstGeom prst="rect">
            <a:avLst/>
          </a:prstGeom>
          <a:solidFill>
            <a:srgbClr val="D95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DM Mono"/>
                <a:ea typeface="DM Mono"/>
              </a:rPr>
              <a:t>EMERGÊNCIA NF 2P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01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DM Mono"/>
                <a:ea typeface="DM Mono"/>
              </a:rPr>
              <a:t>trava + rearme por rotação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87600" y="2571840"/>
            <a:ext cx="844200" cy="143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20280000">
            <a:off x="1746000" y="4032360"/>
            <a:ext cx="1333080" cy="83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921360" y="1778040"/>
            <a:ext cx="457164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6921360" y="2178000"/>
            <a:ext cx="457164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921360" y="2577960"/>
            <a:ext cx="4571640" cy="61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6921360" y="3149640"/>
            <a:ext cx="4571640" cy="61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9429840" y="5462280"/>
            <a:ext cx="2063160" cy="761760"/>
          </a:xfrm>
          <a:prstGeom prst="rect">
            <a:avLst/>
          </a:prstGeom>
          <a:noFill/>
          <a:ln w="12700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TESTE SEM LÂMINA · 1–2 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topo da lâmina em direção ao operador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invertido? trocar A1 ↔ A2 do auxiliar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984240" y="1936800"/>
            <a:ext cx="5587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Fase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698400" y="2063880"/>
            <a:ext cx="1047240" cy="570960"/>
          </a:xfrm>
          <a:prstGeom prst="rect">
            <a:avLst/>
          </a:prstGeom>
          <a:noFill/>
          <a:ln w="12700">
            <a:solidFill>
              <a:srgbClr val="54B7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852120" y="2222640"/>
            <a:ext cx="74016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Disjuntor bipolar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907560" y="2349360"/>
            <a:ext cx="62928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10 A · curva C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1873080" y="2063880"/>
            <a:ext cx="1047240" cy="570960"/>
          </a:xfrm>
          <a:prstGeom prst="rect">
            <a:avLst/>
          </a:prstGeom>
          <a:noFill/>
          <a:ln w="12700">
            <a:solidFill>
              <a:srgbClr val="54B7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2155680" y="2222640"/>
            <a:ext cx="48240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DR bipolar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2248560" y="2349360"/>
            <a:ext cx="29664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30 mA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3047760" y="2063880"/>
            <a:ext cx="1047240" cy="570960"/>
          </a:xfrm>
          <a:prstGeom prst="rect">
            <a:avLst/>
          </a:prstGeom>
          <a:noFill/>
          <a:ln w="12700">
            <a:solidFill>
              <a:srgbClr val="D95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3314880" y="2222640"/>
            <a:ext cx="51336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Emergência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3432240" y="2349360"/>
            <a:ext cx="27864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NF 2P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2"/>
          <p:cNvSpPr/>
          <p:nvPr/>
        </p:nvSpPr>
        <p:spPr>
          <a:xfrm>
            <a:off x="4222800" y="2063880"/>
            <a:ext cx="1047240" cy="570960"/>
          </a:xfrm>
          <a:prstGeom prst="rect">
            <a:avLst/>
          </a:prstGeom>
          <a:noFill/>
          <a:ln w="12700">
            <a:solidFill>
              <a:srgbClr val="54B7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4479840" y="2222640"/>
            <a:ext cx="53316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Liga/desliga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4532040" y="2349360"/>
            <a:ext cx="428400" cy="12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3251"/>
              </a:spcBef>
              <a:tabLst>
                <a:tab pos="0" algn="l"/>
              </a:tabLst>
            </a:pPr>
            <a:r>
              <a:rPr lang="pt-BR" sz="8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com trava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6318000" y="2381400"/>
            <a:ext cx="1110960" cy="888480"/>
          </a:xfrm>
          <a:prstGeom prst="rect">
            <a:avLst/>
          </a:prstGeom>
          <a:noFill/>
          <a:ln w="25399">
            <a:solidFill>
              <a:srgbClr val="F3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MOTOR PSC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982800" y="3460680"/>
            <a:ext cx="18856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Neutro → mesmos dispositivos → motor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982800" y="4095720"/>
            <a:ext cx="28062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PE 2,5 mm² verde/amarelo → motor + estrutura + carcaça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continuidade &lt; 0,1 Ω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84240" y="1936800"/>
            <a:ext cx="5587560" cy="25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82800" y="4095720"/>
            <a:ext cx="2806200" cy="3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18"/>
          <p:cNvSpPr/>
          <p:nvPr/>
        </p:nvSpPr>
        <p:spPr>
          <a:xfrm>
            <a:off x="698400" y="419040"/>
            <a:ext cx="170784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ETAPA 7 · DIAGRAMA UNIFILAR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698040" y="666720"/>
            <a:ext cx="8463960" cy="15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4649"/>
              </a:lnSpc>
              <a:spcBef>
                <a:spcPts val="799"/>
              </a:spcBef>
              <a:tabLst>
                <a:tab pos="0" algn="l"/>
              </a:tabLst>
            </a:pPr>
            <a:r>
              <a:rPr lang="pt-BR" sz="3100" b="1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Comando direto, proteção em série</a:t>
            </a:r>
            <a:endParaRPr lang="pt-B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0"/>
          <p:cNvSpPr/>
          <p:nvPr/>
        </p:nvSpPr>
        <p:spPr>
          <a:xfrm>
            <a:off x="8254800" y="1905120"/>
            <a:ext cx="3238200" cy="17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8254800" y="1911240"/>
            <a:ext cx="32382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Principal entre fase/neutro.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2"/>
          <p:cNvSpPr/>
          <p:nvPr/>
        </p:nvSpPr>
        <p:spPr>
          <a:xfrm>
            <a:off x="8254800" y="2305080"/>
            <a:ext cx="32382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Auxiliar em série com capacitor 12 µF, em paralelo com principal.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3"/>
          <p:cNvSpPr/>
          <p:nvPr/>
        </p:nvSpPr>
        <p:spPr>
          <a:xfrm>
            <a:off x="8254800" y="2870280"/>
            <a:ext cx="32382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pt-BR" sz="10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Protetor térmico interno em série.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8254800" y="3263760"/>
            <a:ext cx="323820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49"/>
              </a:lnSpc>
              <a:tabLst>
                <a:tab pos="0" algn="l"/>
              </a:tabLst>
            </a:pPr>
            <a:r>
              <a:rPr lang="pt-BR" sz="1000" b="1" u="none" strike="noStrike">
                <a:solidFill>
                  <a:srgbClr val="F3B544"/>
                </a:solidFill>
                <a:effectLst/>
                <a:uFillTx/>
                <a:latin typeface="DM Mono"/>
                <a:ea typeface="DM Mono"/>
              </a:rPr>
              <a:t>NR-10:</a:t>
            </a:r>
            <a:r>
              <a:rPr lang="pt-BR" sz="100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 ligação no quadro por eletricista habilitado.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254800" y="1905120"/>
            <a:ext cx="3238200" cy="1752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254800" y="1911240"/>
            <a:ext cx="3238200" cy="43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254800" y="2305080"/>
            <a:ext cx="3238200" cy="60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8254800" y="2870280"/>
            <a:ext cx="3238200" cy="43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Image 6" descr="preencoded.png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8254800" y="3263760"/>
            <a:ext cx="3238200" cy="43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EE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730080" y="546120"/>
            <a:ext cx="116784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ETAPA 8 · ACEITAÇÃO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730440" y="806400"/>
            <a:ext cx="7143120" cy="17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250"/>
              </a:lnSpc>
              <a:spcBef>
                <a:spcPts val="901"/>
              </a:spcBef>
              <a:tabLst>
                <a:tab pos="0" algn="l"/>
              </a:tabLst>
            </a:pPr>
            <a:r>
              <a:rPr lang="pt-BR" sz="350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Não cortar antes de medir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761040" y="1809720"/>
            <a:ext cx="2711160" cy="952200"/>
          </a:xfrm>
          <a:prstGeom prst="rect">
            <a:avLst/>
          </a:prstGeom>
          <a:noFill/>
          <a:ln w="1270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901800" y="2082960"/>
            <a:ext cx="355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01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1410120" y="2111400"/>
            <a:ext cx="123156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Terra &lt; 0,1 Ω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Megger 500 V &gt; 1 MΩ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3597120" y="1809720"/>
            <a:ext cx="2711160" cy="952200"/>
          </a:xfrm>
          <a:prstGeom prst="rect">
            <a:avLst/>
          </a:prstGeom>
          <a:noFill/>
          <a:ln w="1270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3737880" y="2082960"/>
            <a:ext cx="355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02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4244760" y="2111400"/>
            <a:ext cx="1047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Emergência desliga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em &lt; 1 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6433560" y="1809720"/>
            <a:ext cx="2711160" cy="952200"/>
          </a:xfrm>
          <a:prstGeom prst="rect">
            <a:avLst/>
          </a:prstGeom>
          <a:noFill/>
          <a:ln w="1270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6574320" y="2082960"/>
            <a:ext cx="355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03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7083360" y="2111400"/>
            <a:ext cx="123156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Sem carga, sem lâmina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ruído + sentido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761040" y="2889360"/>
            <a:ext cx="2711160" cy="952200"/>
          </a:xfrm>
          <a:prstGeom prst="rect">
            <a:avLst/>
          </a:prstGeom>
          <a:noFill/>
          <a:ln w="1270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901800" y="3162240"/>
            <a:ext cx="355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04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1410120" y="3191040"/>
            <a:ext cx="118080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RPM 3.440–3.630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corrente a vazio &lt; 2 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3597120" y="2889360"/>
            <a:ext cx="2711160" cy="952200"/>
          </a:xfrm>
          <a:prstGeom prst="rect">
            <a:avLst/>
          </a:prstGeom>
          <a:noFill/>
          <a:ln w="1270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3737880" y="3162240"/>
            <a:ext cx="355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05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4246560" y="3191040"/>
            <a:ext cx="123156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Prova em madeira seca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30 mm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8"/>
          <p:cNvSpPr/>
          <p:nvPr/>
        </p:nvSpPr>
        <p:spPr>
          <a:xfrm>
            <a:off x="6433560" y="2889360"/>
            <a:ext cx="2711160" cy="952200"/>
          </a:xfrm>
          <a:prstGeom prst="rect">
            <a:avLst/>
          </a:prstGeom>
          <a:noFill/>
          <a:ln w="1270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6574320" y="3162240"/>
            <a:ext cx="3553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8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06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0"/>
          <p:cNvSpPr/>
          <p:nvPr/>
        </p:nvSpPr>
        <p:spPr>
          <a:xfrm>
            <a:off x="7083360" y="3191040"/>
            <a:ext cx="1371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Após 5 min: aquecimento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66"/>
              </a:lnSpc>
              <a:tabLst>
                <a:tab pos="0" algn="l"/>
              </a:tabLst>
            </a:pPr>
            <a:r>
              <a:rPr lang="pt-BR" sz="10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&lt; 90 °C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762120" y="5619600"/>
            <a:ext cx="1066752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762120" y="5778360"/>
            <a:ext cx="10667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ROTINA DIÁRIA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3"/>
          <p:cNvSpPr/>
          <p:nvPr/>
        </p:nvSpPr>
        <p:spPr>
          <a:xfrm>
            <a:off x="762120" y="600084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700"/>
              </a:spcBef>
              <a:tabLst>
                <a:tab pos="0" algn="l"/>
              </a:tabLst>
            </a:pP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□ torque do disco</a:t>
            </a:r>
            <a:r>
              <a:rPr lang="zh-CN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　□ </a:t>
            </a: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tensão da correia</a:t>
            </a:r>
            <a:r>
              <a:rPr lang="zh-CN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　□ </a:t>
            </a: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faca + coifa</a:t>
            </a:r>
            <a:r>
              <a:rPr lang="zh-CN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　□ </a:t>
            </a: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limpeza</a:t>
            </a:r>
            <a:r>
              <a:rPr lang="zh-CN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　□ </a:t>
            </a: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lâmina afiada</a:t>
            </a:r>
            <a:r>
              <a:rPr lang="zh-CN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　□ </a:t>
            </a:r>
            <a:r>
              <a:rPr lang="pt-BR" sz="11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EPIs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10476720" y="5829120"/>
            <a:ext cx="952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Teste do DR: mensal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2120" y="5619600"/>
            <a:ext cx="10667520" cy="57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730440" y="546120"/>
            <a:ext cx="7488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09 / COMPRAS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730080" y="806400"/>
            <a:ext cx="8178120" cy="173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250"/>
              </a:lnSpc>
              <a:spcBef>
                <a:spcPts val="901"/>
              </a:spcBef>
              <a:tabLst>
                <a:tab pos="0" algn="l"/>
              </a:tabLst>
            </a:pPr>
            <a:r>
              <a:rPr lang="pt-BR" sz="3500" b="1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Lista curta. Custo controlado.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762120" y="1905120"/>
            <a:ext cx="304740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5100"/>
              </a:lnSpc>
              <a:tabLst>
                <a:tab pos="0" algn="l"/>
              </a:tabLst>
            </a:pPr>
            <a:r>
              <a:rPr lang="pt-BR" sz="3400" b="1" u="none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R$ 575–1.070</a:t>
            </a:r>
            <a:r>
              <a:rPr lang="pt-BR" sz="10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estimativa total · média ≈ R$ 800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1" name="Table 0"/>
          <p:cNvGraphicFramePr/>
          <p:nvPr/>
        </p:nvGraphicFramePr>
        <p:xfrm>
          <a:off x="4444920" y="1555920"/>
          <a:ext cx="6158880" cy="2542680"/>
        </p:xfrm>
        <a:graphic>
          <a:graphicData uri="http://schemas.openxmlformats.org/drawingml/2006/table">
            <a:tbl>
              <a:tblPr/>
              <a:tblGrid>
                <a:gridCol w="4105080"/>
                <a:gridCol w="2053800"/>
              </a:tblGrid>
              <a:tr h="0">
                <a:tc>
                  <a:txBody>
                    <a:bodyPr lIns="120600" tIns="101520" rIns="12060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050" b="0" u="none" strike="noStrike">
                          <a:solidFill>
                            <a:srgbClr val="F1EEE7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Kit eixo + mancais + flanges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600" tIns="101520" rIns="120600" bIns="1015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3B544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R$ 80–150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120600" tIns="101520" rIns="12060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EEE7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Disco 250 mm 24T + bucha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600" tIns="101520" rIns="120600" bIns="1015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3B544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R$ 40–90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120600" tIns="101520" rIns="12060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EEE7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Polias e correia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600" tIns="101520" rIns="120600" bIns="1015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3B544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R$ 60–105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120600" tIns="101520" rIns="12060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EEE7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Madeira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600" tIns="101520" rIns="120600" bIns="1015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3B544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R$ 150–250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120600" tIns="101520" rIns="12060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EEE7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Elétrica com DR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600" tIns="101520" rIns="120600" bIns="1015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3B544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R$ 170–250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120600" tIns="101520" rIns="12060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EEE7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Coifa + faca + emergência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600" tIns="101520" rIns="120600" bIns="1015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3B544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R$ 75–165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120600" tIns="101520" rIns="120600" bIns="101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1EEE7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EPIs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0600" tIns="101520" rIns="120600" bIns="101520"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F3B544"/>
                          </a:solidFill>
                          <a:effectLst/>
                          <a:uFillTx/>
                          <a:latin typeface="DM Mono"/>
                          <a:ea typeface="DM Mono"/>
                        </a:rPr>
                        <a:t>R$ 30–80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20600" marR="120600" marT="101520" marB="1015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52707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2" name="Shape 4"/>
          <p:cNvSpPr/>
          <p:nvPr/>
        </p:nvSpPr>
        <p:spPr>
          <a:xfrm>
            <a:off x="762840" y="5583240"/>
            <a:ext cx="5581080" cy="4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921600" y="5584680"/>
            <a:ext cx="54223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APROVEITADOS DA MÁQUINA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921600" y="5792760"/>
            <a:ext cx="542232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74"/>
              </a:lnSpc>
              <a:spcBef>
                <a:spcPts val="601"/>
              </a:spcBef>
              <a:tabLst>
                <a:tab pos="0" algn="l"/>
              </a:tabLst>
            </a:pPr>
            <a:r>
              <a:rPr lang="pt-BR" sz="1250" b="0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motor + capacitor · carcaça · polia do motor (se ≥ 80 mm)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2840" y="5583240"/>
            <a:ext cx="5581080" cy="45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D95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10656360" y="762120"/>
            <a:ext cx="552240" cy="18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0" b="0" u="none" strike="noStrike">
                <a:solidFill>
                  <a:srgbClr val="F3B544"/>
                </a:solidFill>
                <a:effectLst/>
                <a:uFillTx/>
                <a:latin typeface="Alfa Slab One"/>
                <a:ea typeface="Alfa Slab One"/>
              </a:rPr>
              <a:t>!</a:t>
            </a:r>
            <a:endParaRPr lang="pt-BR" sz="1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763200" y="698400"/>
            <a:ext cx="2095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10 / LIMITES DE RESPONSABILIDADE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3"/>
          <p:cNvSpPr/>
          <p:nvPr/>
        </p:nvSpPr>
        <p:spPr>
          <a:xfrm>
            <a:off x="761040" y="1041480"/>
            <a:ext cx="7759080" cy="31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4751"/>
              </a:lnSpc>
              <a:spcBef>
                <a:spcPts val="1500"/>
              </a:spcBef>
              <a:tabLst>
                <a:tab pos="0" algn="l"/>
              </a:tabLst>
            </a:pPr>
            <a:r>
              <a:rPr lang="pt-BR" sz="5000" b="1" u="none" spc="-201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Equipamento caseiro.</a:t>
            </a:r>
            <a:endParaRPr lang="pt-BR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1"/>
              </a:lnSpc>
              <a:spcBef>
                <a:spcPts val="1500"/>
              </a:spcBef>
              <a:tabLst>
                <a:tab pos="0" algn="l"/>
              </a:tabLst>
            </a:pPr>
            <a:r>
              <a:rPr lang="pt-BR" sz="5000" b="1" u="none" spc="-201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Risco real.</a:t>
            </a:r>
            <a:endParaRPr lang="pt-BR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4"/>
          <p:cNvSpPr/>
          <p:nvPr/>
        </p:nvSpPr>
        <p:spPr>
          <a:xfrm>
            <a:off x="762120" y="3174840"/>
            <a:ext cx="7111440" cy="28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762120" y="3193920"/>
            <a:ext cx="7111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Lâmina exposta e motor adaptado: o construtor assume os riscos.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762120" y="3879720"/>
            <a:ext cx="711144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Seguir integralmente o manual. NR-10 e NR-12 são referências de boas práticas.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7"/>
          <p:cNvSpPr/>
          <p:nvPr/>
        </p:nvSpPr>
        <p:spPr>
          <a:xfrm>
            <a:off x="762120" y="4565520"/>
            <a:ext cx="7111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Ligação no quadro: eletricista habilitado.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762120" y="5041800"/>
            <a:ext cx="711144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Este manual não substitui projeto com ART no CREA.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762120" y="5518080"/>
            <a:ext cx="711144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Material orientativo, sem garantia de resultados.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2120" y="3174840"/>
            <a:ext cx="7111440" cy="283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120" y="3193920"/>
            <a:ext cx="7111440" cy="72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62120" y="3879720"/>
            <a:ext cx="7111440" cy="72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2120" y="4565520"/>
            <a:ext cx="711144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0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62120" y="5041800"/>
            <a:ext cx="711144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762120" y="5518080"/>
            <a:ext cx="7111440" cy="52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18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"/>
          <p:cNvSpPr/>
          <p:nvPr/>
        </p:nvSpPr>
        <p:spPr>
          <a:xfrm>
            <a:off x="7810200" y="1015920"/>
            <a:ext cx="3301560" cy="3301560"/>
          </a:xfrm>
          <a:prstGeom prst="ellipse">
            <a:avLst/>
          </a:prstGeom>
          <a:noFill/>
          <a:ln w="25399">
            <a:solidFill>
              <a:srgbClr val="F3B544"/>
            </a:solidFill>
            <a:round/>
          </a:ln>
          <a:effectLst>
            <a:outerShdw algn="bl" blurRad="101520" dir="16200000" dist="50760" kx="0" ky="0" rotWithShape="0" sx="100000" sy="100000">
              <a:srgbClr val="10182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"/>
          <p:cNvSpPr/>
          <p:nvPr/>
        </p:nvSpPr>
        <p:spPr>
          <a:xfrm>
            <a:off x="10470960" y="6311880"/>
            <a:ext cx="9583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e-Sid Solutions M.E.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761400" y="793800"/>
            <a:ext cx="11617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11 / PRÓXIMO PASSO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763200" y="1136880"/>
            <a:ext cx="6552720" cy="34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5040"/>
              </a:lnSpc>
              <a:spcBef>
                <a:spcPts val="1500"/>
              </a:spcBef>
              <a:tabLst>
                <a:tab pos="0" algn="l"/>
              </a:tabLst>
            </a:pPr>
            <a:r>
              <a:rPr lang="pt-BR" sz="5600" b="1" u="none" spc="-249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Medir antes</a:t>
            </a:r>
            <a:endParaRPr lang="pt-BR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040"/>
              </a:lnSpc>
              <a:spcBef>
                <a:spcPts val="1500"/>
              </a:spcBef>
              <a:tabLst>
                <a:tab pos="0" algn="l"/>
              </a:tabLst>
            </a:pPr>
            <a:r>
              <a:rPr lang="pt-BR" sz="5600" b="1" u="none" spc="-249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de comprar.</a:t>
            </a:r>
            <a:endParaRPr lang="pt-BR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763200" y="2654280"/>
            <a:ext cx="65527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251"/>
              </a:lnSpc>
              <a:spcBef>
                <a:spcPts val="1749"/>
              </a:spcBef>
              <a:tabLst>
                <a:tab pos="0" algn="l"/>
              </a:tabLst>
            </a:pPr>
            <a:r>
              <a:rPr lang="pt-BR" sz="1500" b="0" u="none" strike="noStrike">
                <a:solidFill>
                  <a:srgbClr val="F1EEE7"/>
                </a:solidFill>
                <a:effectLst/>
                <a:uFillTx/>
                <a:latin typeface="Space Grotesk"/>
                <a:ea typeface="Space Grotesk"/>
              </a:rPr>
              <a:t>Confirme a polia do motor e o protetor térmico interno.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762480" y="5156280"/>
            <a:ext cx="2158560" cy="90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933840" y="5156280"/>
            <a:ext cx="19872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54B7C1"/>
                </a:solidFill>
                <a:effectLst/>
                <a:uFillTx/>
                <a:latin typeface="DM Mono"/>
                <a:ea typeface="DM Mono"/>
              </a:rPr>
              <a:t>AÇÃO IMEDIATA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8"/>
          <p:cNvSpPr/>
          <p:nvPr/>
        </p:nvSpPr>
        <p:spPr>
          <a:xfrm>
            <a:off x="9169200" y="4991040"/>
            <a:ext cx="16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148"/>
              </a:lnSpc>
              <a:tabLst>
                <a:tab pos="0" algn="l"/>
              </a:tabLst>
            </a:pPr>
            <a:r>
              <a:rPr lang="pt-BR" sz="3000" b="1" u="none" strike="noStrike">
                <a:solidFill>
                  <a:srgbClr val="F3B544"/>
                </a:solidFill>
                <a:effectLst/>
                <a:uFillTx/>
                <a:latin typeface="Space Grotesk"/>
                <a:ea typeface="Space Grotesk"/>
              </a:rPr>
              <a:t>0,47 N·m</a:t>
            </a:r>
            <a:r>
              <a:rPr lang="pt-BR" sz="850" b="0" u="none" strike="noStrike">
                <a:solidFill>
                  <a:srgbClr val="B7C2C1"/>
                </a:solidFill>
                <a:effectLst/>
                <a:uFillTx/>
                <a:latin typeface="DM Mono"/>
                <a:ea typeface="DM Mono"/>
              </a:rPr>
              <a:t>torque na ponta validadoem bancada no teste da Etapa 8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62480" y="5156280"/>
            <a:ext cx="2158560" cy="90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9"/>
          <p:cNvSpPr/>
          <p:nvPr/>
        </p:nvSpPr>
        <p:spPr>
          <a:xfrm>
            <a:off x="933840" y="5378400"/>
            <a:ext cx="198720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783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​Medir a polia existente.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83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​Confirmar o protetor térmico.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83"/>
              </a:lnSpc>
              <a:tabLst>
                <a:tab pos="0" algn="l"/>
              </a:tabLst>
            </a:pPr>
            <a:r>
              <a:rPr lang="pt-BR" sz="1150" b="0" u="none" strike="noStrike">
                <a:solidFill>
                  <a:srgbClr val="F1EEE7"/>
                </a:solidFill>
                <a:effectLst/>
                <a:uFillTx/>
                <a:latin typeface="DM Mono"/>
                <a:ea typeface="DM Mono"/>
              </a:rPr>
              <a:t>​Só então comprar a polia nova.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1EEE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762120" y="2825640"/>
            <a:ext cx="1491840" cy="1491840"/>
          </a:xfrm>
          <a:prstGeom prst="ellipse">
            <a:avLst/>
          </a:prstGeom>
          <a:noFill/>
          <a:ln w="1905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199"/>
              </a:lnSpc>
              <a:spcBef>
                <a:spcPts val="700"/>
              </a:spcBef>
              <a:tabLst>
                <a:tab pos="0" algn="l"/>
              </a:tabLst>
            </a:pPr>
            <a:r>
              <a:rPr lang="pt-BR" sz="24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01</a:t>
            </a:r>
            <a:r>
              <a:rPr lang="pt-BR" sz="10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motore dados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2255040" y="3562200"/>
            <a:ext cx="799560" cy="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"/>
          <p:cNvSpPr/>
          <p:nvPr/>
        </p:nvSpPr>
        <p:spPr>
          <a:xfrm>
            <a:off x="3056040" y="2825640"/>
            <a:ext cx="1491840" cy="1491840"/>
          </a:xfrm>
          <a:prstGeom prst="ellipse">
            <a:avLst/>
          </a:prstGeom>
          <a:noFill/>
          <a:ln w="1905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199"/>
              </a:lnSpc>
              <a:spcBef>
                <a:spcPts val="700"/>
              </a:spcBef>
              <a:tabLst>
                <a:tab pos="0" algn="l"/>
              </a:tabLst>
            </a:pPr>
            <a:r>
              <a:rPr lang="pt-BR" sz="24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02</a:t>
            </a:r>
            <a:r>
              <a:rPr lang="pt-BR" sz="10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bancadaestrutural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"/>
          <p:cNvSpPr/>
          <p:nvPr/>
        </p:nvSpPr>
        <p:spPr>
          <a:xfrm>
            <a:off x="4548960" y="3562200"/>
            <a:ext cx="799560" cy="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5349600" y="2825640"/>
            <a:ext cx="1491840" cy="1491840"/>
          </a:xfrm>
          <a:prstGeom prst="ellipse">
            <a:avLst/>
          </a:prstGeom>
          <a:noFill/>
          <a:ln w="1905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199"/>
              </a:lnSpc>
              <a:spcBef>
                <a:spcPts val="700"/>
              </a:spcBef>
              <a:tabLst>
                <a:tab pos="0" algn="l"/>
              </a:tabLst>
            </a:pPr>
            <a:r>
              <a:rPr lang="pt-BR" sz="24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03</a:t>
            </a:r>
            <a:r>
              <a:rPr lang="pt-BR" sz="10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transmissão2,25:1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6"/>
          <p:cNvSpPr/>
          <p:nvPr/>
        </p:nvSpPr>
        <p:spPr>
          <a:xfrm>
            <a:off x="6842880" y="3562200"/>
            <a:ext cx="799560" cy="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7643520" y="2825640"/>
            <a:ext cx="1491840" cy="1491840"/>
          </a:xfrm>
          <a:prstGeom prst="ellipse">
            <a:avLst/>
          </a:prstGeom>
          <a:noFill/>
          <a:ln w="19050">
            <a:solidFill>
              <a:srgbClr val="365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199"/>
              </a:lnSpc>
              <a:spcBef>
                <a:spcPts val="700"/>
              </a:spcBef>
              <a:tabLst>
                <a:tab pos="0" algn="l"/>
              </a:tabLst>
            </a:pPr>
            <a:r>
              <a:rPr lang="pt-BR" sz="24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04</a:t>
            </a:r>
            <a:r>
              <a:rPr lang="pt-BR" sz="10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discoe guias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8"/>
          <p:cNvSpPr/>
          <p:nvPr/>
        </p:nvSpPr>
        <p:spPr>
          <a:xfrm>
            <a:off x="9136800" y="3562200"/>
            <a:ext cx="799560" cy="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9937440" y="2825640"/>
            <a:ext cx="1491840" cy="1491840"/>
          </a:xfrm>
          <a:prstGeom prst="ellipse">
            <a:avLst/>
          </a:prstGeom>
          <a:noFill/>
          <a:ln w="19050">
            <a:solidFill>
              <a:srgbClr val="D95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ts val="1199"/>
              </a:lnSpc>
              <a:spcBef>
                <a:spcPts val="700"/>
              </a:spcBef>
              <a:tabLst>
                <a:tab pos="0" algn="l"/>
              </a:tabLst>
            </a:pPr>
            <a:r>
              <a:rPr lang="pt-BR" sz="2400" b="0" u="none" strike="noStrike">
                <a:solidFill>
                  <a:srgbClr val="D9533D"/>
                </a:solidFill>
                <a:effectLst/>
                <a:uFillTx/>
                <a:latin typeface="DM Mono"/>
                <a:ea typeface="DM Mono"/>
              </a:rPr>
              <a:t>05</a:t>
            </a:r>
            <a:r>
              <a:rPr lang="pt-BR" sz="1000" b="0" u="none" strike="noStrike">
                <a:solidFill>
                  <a:srgbClr val="101820"/>
                </a:solidFill>
                <a:effectLst/>
                <a:uFillTx/>
                <a:latin typeface="DM Mono"/>
                <a:ea typeface="DM Mono"/>
              </a:rPr>
              <a:t>segurançae testes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255040" y="3562200"/>
            <a:ext cx="7995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48960" y="3562200"/>
            <a:ext cx="7995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842880" y="3562200"/>
            <a:ext cx="799560" cy="1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9136800" y="3562200"/>
            <a:ext cx="799560" cy="1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10"/>
          <p:cNvSpPr/>
          <p:nvPr/>
        </p:nvSpPr>
        <p:spPr>
          <a:xfrm>
            <a:off x="761400" y="635040"/>
            <a:ext cx="122508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5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VISÃO DE CONJUNTO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762840" y="927000"/>
            <a:ext cx="6781320" cy="21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6599"/>
              </a:lnSpc>
              <a:spcBef>
                <a:spcPts val="1100"/>
              </a:spcBef>
              <a:tabLst>
                <a:tab pos="0" algn="l"/>
              </a:tabLst>
            </a:pPr>
            <a:r>
              <a:rPr lang="pt-BR" sz="4400" b="1" u="none" spc="-201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Da máquina à bancada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762840" y="1905120"/>
            <a:ext cx="6781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1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1400" b="0" u="none" strike="noStrike">
                <a:solidFill>
                  <a:srgbClr val="36545B"/>
                </a:solidFill>
                <a:effectLst/>
                <a:uFillTx/>
                <a:latin typeface="Space Grotesk"/>
                <a:ea typeface="Space Grotesk"/>
              </a:rPr>
              <a:t>Sequência mínima para uma montagem controlada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3"/>
          <p:cNvSpPr/>
          <p:nvPr/>
        </p:nvSpPr>
        <p:spPr>
          <a:xfrm>
            <a:off x="762120" y="5506920"/>
            <a:ext cx="10667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/>
          <p:cNvSpPr/>
          <p:nvPr/>
        </p:nvSpPr>
        <p:spPr>
          <a:xfrm>
            <a:off x="762120" y="5680080"/>
            <a:ext cx="106675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900" b="0" u="none" strike="noStrike">
                <a:solidFill>
                  <a:srgbClr val="C17C19"/>
                </a:solidFill>
                <a:effectLst/>
                <a:uFillTx/>
                <a:latin typeface="DM Mono"/>
                <a:ea typeface="DM Mono"/>
              </a:rPr>
              <a:t>CRITÉRIO DE LIBERAÇÃO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5"/>
          <p:cNvSpPr/>
          <p:nvPr/>
        </p:nvSpPr>
        <p:spPr>
          <a:xfrm>
            <a:off x="762120" y="5894280"/>
            <a:ext cx="1066752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324"/>
              </a:lnSpc>
              <a:spcBef>
                <a:spcPts val="649"/>
              </a:spcBef>
              <a:tabLst>
                <a:tab pos="0" algn="l"/>
              </a:tabLst>
            </a:pPr>
            <a:r>
              <a:rPr lang="pt-BR" sz="1550" b="1" u="none" strike="noStrike">
                <a:solidFill>
                  <a:srgbClr val="101820"/>
                </a:solidFill>
                <a:effectLst/>
                <a:uFillTx/>
                <a:latin typeface="Space Grotesk"/>
                <a:ea typeface="Space Grotesk"/>
              </a:rPr>
              <a:t>Se uma proteção ou medição falhar, o corte não começa.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762120" y="5506920"/>
            <a:ext cx="10667520" cy="68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2026-09-21T22:45:34Z</dcterms:created>
  <dc:creator>PptxGenJS</dc:creator>
  <dc:description/>
  <dc:language>pt-BR</dc:language>
  <cp:lastModifiedBy/>
  <dcterms:modified xsi:type="dcterms:W3CDTF">2026-09-21T20:06:19Z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